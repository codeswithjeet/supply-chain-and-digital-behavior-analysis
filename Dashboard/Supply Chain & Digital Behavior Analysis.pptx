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14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et Sarkar" userId="12b57eeb8cb158c3" providerId="LiveId" clId="{BA5EA739-9141-49E4-BFCA-87EA2CC67AF0}"/>
    <pc:docChg chg="modSld">
      <pc:chgData name="Jeet Sarkar" userId="12b57eeb8cb158c3" providerId="LiveId" clId="{BA5EA739-9141-49E4-BFCA-87EA2CC67AF0}" dt="2025-12-14T18:34:02.980" v="0"/>
      <pc:docMkLst>
        <pc:docMk/>
      </pc:docMkLst>
      <pc:sldChg chg="modTransition">
        <pc:chgData name="Jeet Sarkar" userId="12b57eeb8cb158c3" providerId="LiveId" clId="{BA5EA739-9141-49E4-BFCA-87EA2CC67AF0}" dt="2025-12-14T18:34:02.980" v="0"/>
        <pc:sldMkLst>
          <pc:docMk/>
          <pc:sldMk cId="1757915143" sldId="256"/>
        </pc:sldMkLst>
      </pc:sldChg>
      <pc:sldChg chg="modTransition">
        <pc:chgData name="Jeet Sarkar" userId="12b57eeb8cb158c3" providerId="LiveId" clId="{BA5EA739-9141-49E4-BFCA-87EA2CC67AF0}" dt="2025-12-14T18:34:02.980" v="0"/>
        <pc:sldMkLst>
          <pc:docMk/>
          <pc:sldMk cId="4277497318" sldId="257"/>
        </pc:sldMkLst>
      </pc:sldChg>
      <pc:sldChg chg="modTransition">
        <pc:chgData name="Jeet Sarkar" userId="12b57eeb8cb158c3" providerId="LiveId" clId="{BA5EA739-9141-49E4-BFCA-87EA2CC67AF0}" dt="2025-12-14T18:34:02.980" v="0"/>
        <pc:sldMkLst>
          <pc:docMk/>
          <pc:sldMk cId="2966391562" sldId="258"/>
        </pc:sldMkLst>
      </pc:sldChg>
      <pc:sldChg chg="modTransition">
        <pc:chgData name="Jeet Sarkar" userId="12b57eeb8cb158c3" providerId="LiveId" clId="{BA5EA739-9141-49E4-BFCA-87EA2CC67AF0}" dt="2025-12-14T18:34:02.980" v="0"/>
        <pc:sldMkLst>
          <pc:docMk/>
          <pc:sldMk cId="646736452" sldId="259"/>
        </pc:sldMkLst>
      </pc:sldChg>
      <pc:sldChg chg="modTransition">
        <pc:chgData name="Jeet Sarkar" userId="12b57eeb8cb158c3" providerId="LiveId" clId="{BA5EA739-9141-49E4-BFCA-87EA2CC67AF0}" dt="2025-12-14T18:34:02.980" v="0"/>
        <pc:sldMkLst>
          <pc:docMk/>
          <pc:sldMk cId="139118670" sldId="260"/>
        </pc:sldMkLst>
      </pc:sldChg>
      <pc:sldChg chg="modTransition">
        <pc:chgData name="Jeet Sarkar" userId="12b57eeb8cb158c3" providerId="LiveId" clId="{BA5EA739-9141-49E4-BFCA-87EA2CC67AF0}" dt="2025-12-14T18:34:02.980" v="0"/>
        <pc:sldMkLst>
          <pc:docMk/>
          <pc:sldMk cId="1974198533" sldId="261"/>
        </pc:sldMkLst>
      </pc:sldChg>
      <pc:sldChg chg="modTransition">
        <pc:chgData name="Jeet Sarkar" userId="12b57eeb8cb158c3" providerId="LiveId" clId="{BA5EA739-9141-49E4-BFCA-87EA2CC67AF0}" dt="2025-12-14T18:34:02.980" v="0"/>
        <pc:sldMkLst>
          <pc:docMk/>
          <pc:sldMk cId="4151147750" sldId="262"/>
        </pc:sldMkLst>
      </pc:sldChg>
      <pc:sldChg chg="modTransition">
        <pc:chgData name="Jeet Sarkar" userId="12b57eeb8cb158c3" providerId="LiveId" clId="{BA5EA739-9141-49E4-BFCA-87EA2CC67AF0}" dt="2025-12-14T18:34:02.980" v="0"/>
        <pc:sldMkLst>
          <pc:docMk/>
          <pc:sldMk cId="3610346547" sldId="263"/>
        </pc:sldMkLst>
      </pc:sldChg>
      <pc:sldChg chg="modTransition">
        <pc:chgData name="Jeet Sarkar" userId="12b57eeb8cb158c3" providerId="LiveId" clId="{BA5EA739-9141-49E4-BFCA-87EA2CC67AF0}" dt="2025-12-14T18:34:02.980" v="0"/>
        <pc:sldMkLst>
          <pc:docMk/>
          <pc:sldMk cId="2127240294" sldId="264"/>
        </pc:sldMkLst>
      </pc:sldChg>
      <pc:sldChg chg="modTransition">
        <pc:chgData name="Jeet Sarkar" userId="12b57eeb8cb158c3" providerId="LiveId" clId="{BA5EA739-9141-49E4-BFCA-87EA2CC67AF0}" dt="2025-12-14T18:34:02.980" v="0"/>
        <pc:sldMkLst>
          <pc:docMk/>
          <pc:sldMk cId="3581273011" sldId="265"/>
        </pc:sldMkLst>
      </pc:sldChg>
      <pc:sldChg chg="modTransition">
        <pc:chgData name="Jeet Sarkar" userId="12b57eeb8cb158c3" providerId="LiveId" clId="{BA5EA739-9141-49E4-BFCA-87EA2CC67AF0}" dt="2025-12-14T18:34:02.980" v="0"/>
        <pc:sldMkLst>
          <pc:docMk/>
          <pc:sldMk cId="3505790494" sldId="266"/>
        </pc:sldMkLst>
      </pc:sldChg>
      <pc:sldChg chg="modTransition">
        <pc:chgData name="Jeet Sarkar" userId="12b57eeb8cb158c3" providerId="LiveId" clId="{BA5EA739-9141-49E4-BFCA-87EA2CC67AF0}" dt="2025-12-14T18:34:02.980" v="0"/>
        <pc:sldMkLst>
          <pc:docMk/>
          <pc:sldMk cId="525163886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638BE-BE10-A84C-FE56-2441EA54B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A7FEA2-09E0-B802-DA70-DC6944B0C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5E819-A0A3-67F2-A58C-D200AE589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B4131-978D-F28C-04B5-454C0F542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A32D0-2904-0557-B727-73E3E42DC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131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0088-D0AF-90D0-0EA3-F38326190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F8146-31CD-7839-4037-5EEBD4937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CD7C0-984A-8FE0-D778-934F8968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2DC03-BD23-460B-8603-BFDD4550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35A43-EC4C-8D8D-76CD-EF74B76B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85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56E6F-F5BF-ECD7-7DFC-D44BD91FF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18A04-5A99-64E4-2130-2C701FE72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A4F63-DD9F-1319-1045-377C7C85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60927-5E7C-9166-234A-78B9FCA6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89E8E-32CE-1CEB-463B-C2AC01748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586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06F1-B6B8-8946-49FE-7745620E0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BFDC9-2B5E-9F02-7D5A-1BECD138B1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5BFA8-05B8-5007-6E2C-C12D9A1CE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B35F8-7B1C-B4FE-4353-E07EE802C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14646-6486-FA85-DCA2-EAAC6910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53A15-D56D-2B48-897B-2A3EB40A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99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5A310-1F17-6FE9-C56B-D842CDE6D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0294D-AACB-AFAF-9A12-043A56EC2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11D4D-AC68-456B-D446-FEDD3E225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BD544-9EC8-B6CE-9AC7-FB0C04796D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28174D-C578-E724-8753-8BD2B20259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760350-6BFC-C094-6E3D-595E8667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9CD47E-BEC0-CFDD-8E45-0487DF8C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EE4906-7BD7-252F-D5B8-7FFF177A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937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39A47-0D44-970B-9C97-578EDCF7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625351-9FD3-B720-AE45-ECDB2353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3FDD4-F3DA-24F6-0719-6C598772E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74B02-6C4D-311E-A3FA-8E0E9FA7A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7BD55-2076-7618-5BE8-B4996D4E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AC7899-3C97-507F-B6F9-7D8FBD5F7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1979F-5068-D821-8D2C-19D8A8838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545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A09DD-967B-CBA5-721F-DDFD8859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3947D-87C1-8AEA-9124-050558CD7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57884-F2F2-3C1B-A0A7-ABE84CC6A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4BAF3-B8B2-B84F-D1A3-22CE678F0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EA900-4873-AEEB-71A9-CC23FB142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C532D-2A67-DE2B-0539-F3CC927F8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35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87A6C-AA34-C2F8-015A-7F78D569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2D7331-D9C5-C348-C308-098D33D553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E9A86-1344-3E32-B76C-A9E03C359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E5659-41AC-7808-6A5E-B1264E664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C75A4-E248-8B8A-9EE3-583F6EC24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35903-AD1A-53B3-2BDF-C895C661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898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BE3F8-778F-D07C-7B1F-D296FEC24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38F0D-2A9A-127D-F93D-249E4C700C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9A488-4D41-6AEB-E0E5-EC470E81F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04D18-1BC3-F792-3A7A-1ED4D52EB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77B1C-10AD-BCC8-4A8E-445C635C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99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051BE5-A617-13BB-B1CA-7C94ACBE63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0677C-FDC9-C0C5-9961-476477656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4F718-085C-3017-0751-497E17E9F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A2166-8E72-CCEC-F827-460966F42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2E1F-1FBE-727E-6196-1C2E2CEE9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63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1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526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804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603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26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8649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356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9526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6501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0982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6771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98336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2240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6117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693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243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62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149FE3-EC7C-1F9A-56A0-CE15C77AA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ED626-F3A9-F8FF-F664-77B4A2ED5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45799-CB52-651D-8436-A702282BD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498E4-51DE-C82E-2C7F-18101CC6A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493D-501F-43AC-F337-4CF2D2F78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821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C8050-20E9-4DC2-95EA-A360F7FBD943}" type="datetimeFigureOut">
              <a:rPr lang="en-IN" smtClean="0"/>
              <a:t>14-12-2025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DA215-1188-4756-9FB5-97901423A7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012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921BC-A565-86E3-ED71-B7B0250CA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28" y="1617044"/>
            <a:ext cx="8970744" cy="772913"/>
          </a:xfrm>
        </p:spPr>
        <p:txBody>
          <a:bodyPr>
            <a:normAutofit/>
          </a:bodyPr>
          <a:lstStyle/>
          <a:p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Supply Chain &amp; Digital </a:t>
            </a:r>
            <a:r>
              <a:rPr lang="en-IN" sz="40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Behavior</a:t>
            </a:r>
            <a:r>
              <a:rPr lang="en-IN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C10EF8-1FE2-1280-6982-A6D878D6C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7512" y="3149867"/>
            <a:ext cx="8296976" cy="423510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Leveraging Analytics to Drive Growth, Efficiency, and Customer Value</a:t>
            </a:r>
            <a:endParaRPr lang="en-IN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60B15-CE96-7200-ACD7-1C10EC97D7DA}"/>
              </a:ext>
            </a:extLst>
          </p:cNvPr>
          <p:cNvSpPr txBox="1"/>
          <p:nvPr/>
        </p:nvSpPr>
        <p:spPr>
          <a:xfrm>
            <a:off x="1610629" y="4543124"/>
            <a:ext cx="8147784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Data Source Credit: Mendeley Data (Supply Chain Dataset by </a:t>
            </a:r>
            <a:r>
              <a:rPr lang="en-IN" dirty="0" err="1"/>
              <a:t>DataCo</a:t>
            </a:r>
            <a:r>
              <a:rPr lang="en-IN" dirty="0"/>
              <a:t> Global)</a:t>
            </a:r>
          </a:p>
          <a:p>
            <a:pPr>
              <a:lnSpc>
                <a:spcPct val="150000"/>
              </a:lnSpc>
            </a:pPr>
            <a:r>
              <a:rPr lang="en-IN" dirty="0"/>
              <a:t>Presented BY: </a:t>
            </a:r>
            <a:r>
              <a:rPr lang="en-IN" b="1" dirty="0"/>
              <a:t>Jeet Sarkar</a:t>
            </a:r>
          </a:p>
          <a:p>
            <a:pPr>
              <a:lnSpc>
                <a:spcPct val="150000"/>
              </a:lnSpc>
            </a:pPr>
            <a:r>
              <a:rPr lang="en-IN" dirty="0"/>
              <a:t>Technical Credit: SQL, Excel, </a:t>
            </a:r>
            <a:r>
              <a:rPr lang="en-IN" dirty="0" err="1"/>
              <a:t>PowerBI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79151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F67C9-E510-3F42-CDFB-70ED0885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6403" y="182878"/>
            <a:ext cx="3499193" cy="507733"/>
          </a:xfrm>
        </p:spPr>
        <p:txBody>
          <a:bodyPr>
            <a:norm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Supply Chain Analysis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F3A8641-9F2C-62B0-EB41-0F16EFECCC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" t="1464" r="493" b="1565"/>
          <a:stretch/>
        </p:blipFill>
        <p:spPr>
          <a:xfrm>
            <a:off x="3792354" y="886406"/>
            <a:ext cx="8142972" cy="439064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5F121F-B599-A106-8BFC-882F643FC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4005" y="2028964"/>
            <a:ext cx="3493971" cy="2105527"/>
          </a:xfrm>
        </p:spPr>
        <p:txBody>
          <a:bodyPr>
            <a:normAutofit lnSpcReduction="10000"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Overall Performance</a:t>
            </a:r>
          </a:p>
          <a:p>
            <a:endParaRPr lang="en-US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Total Sales: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36.78M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Total Profit: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3.97M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Average Order Profit: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21.97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Total Quantity Sold:</a:t>
            </a:r>
            <a:r>
              <a:rPr lang="en-US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384K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74973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F69303-A5C2-84B3-D68D-21C1C8EA1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" r="1119"/>
          <a:stretch/>
        </p:blipFill>
        <p:spPr>
          <a:xfrm>
            <a:off x="5313144" y="834761"/>
            <a:ext cx="6487429" cy="478283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7839DB-8F03-4168-6842-0269D1DF6CF2}"/>
              </a:ext>
            </a:extLst>
          </p:cNvPr>
          <p:cNvSpPr txBox="1"/>
          <p:nvPr/>
        </p:nvSpPr>
        <p:spPr>
          <a:xfrm>
            <a:off x="182880" y="834761"/>
            <a:ext cx="47548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Sales by Department</a:t>
            </a:r>
          </a:p>
          <a:p>
            <a:endParaRPr lang="en-US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Fan Shop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is the top revenue contributor (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17.1M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), accounting for nearly half of total sales.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Apparel (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8.0M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 and Golf (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4.6M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 follow.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Outdoors contributes the least (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1.3M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).</a:t>
            </a:r>
          </a:p>
          <a:p>
            <a:endParaRPr lang="en-US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Recommendations: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Protect Fan Shop revenue with exclusive launches and loyalty offers.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Increase cross-selling from Fan Shop to Apparel and Footwear.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Reassess Outdoors category through pricing optimization or assortment rationalization.</a:t>
            </a:r>
          </a:p>
          <a:p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3915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34283A-1368-7688-B393-9297CCABA2C0}"/>
              </a:ext>
            </a:extLst>
          </p:cNvPr>
          <p:cNvSpPr txBox="1"/>
          <p:nvPr/>
        </p:nvSpPr>
        <p:spPr>
          <a:xfrm>
            <a:off x="316816" y="1120676"/>
            <a:ext cx="456237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Sales vs Profit by Category</a:t>
            </a:r>
          </a:p>
          <a:p>
            <a:endParaRPr lang="en-US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Fishing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generates the highest sales but comparatively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lower profit margin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Cleats and Camping &amp; Hiking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show balanced sales and profit.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Computers and Shop by Sport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underperform in both metrics.</a:t>
            </a:r>
          </a:p>
          <a:p>
            <a:endParaRPr lang="en-US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Recommendations: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Review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supplier costs and pricing strategy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for Fishing.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Reduce excessive discounting in high-volume, low-margin categories.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Shift marketing spend toward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high-margin categories.</a:t>
            </a:r>
            <a:endParaRPr lang="en-IN" sz="16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39B914-6C8A-2D50-DF19-50987F2B3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3" r="1549"/>
          <a:stretch/>
        </p:blipFill>
        <p:spPr>
          <a:xfrm>
            <a:off x="4957011" y="1110810"/>
            <a:ext cx="6918173" cy="463638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67364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E56875-9E34-CAC3-44EA-D4C7AC0EB3E1}"/>
              </a:ext>
            </a:extLst>
          </p:cNvPr>
          <p:cNvSpPr txBox="1"/>
          <p:nvPr/>
        </p:nvSpPr>
        <p:spPr>
          <a:xfrm>
            <a:off x="490890" y="1061185"/>
            <a:ext cx="406186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Customer Segment Contribution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Consumer segment dominates (51.9%)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of total contribution.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Corporate contributes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30.36%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, Home Office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17.73%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Recommendations: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Strengthen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loyalty programs and repeat-purchase incentives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for Consumer customers.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Use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behavior-based targeting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to upsell premium products.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Retain high-value consumers through early access and exclusive deals.</a:t>
            </a:r>
            <a:endParaRPr lang="en-IN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0088A9-B177-BEF7-FFF3-E444A5876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" t="108" r="1301" b="1410"/>
          <a:stretch/>
        </p:blipFill>
        <p:spPr>
          <a:xfrm>
            <a:off x="4908885" y="1061185"/>
            <a:ext cx="6963876" cy="473563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1186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B2503B-9499-B742-F4BB-DD27A2DADE48}"/>
              </a:ext>
            </a:extLst>
          </p:cNvPr>
          <p:cNvSpPr txBox="1"/>
          <p:nvPr/>
        </p:nvSpPr>
        <p:spPr>
          <a:xfrm>
            <a:off x="548639" y="705177"/>
            <a:ext cx="3878981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Profitability by Segment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Consumer segment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generates both the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highest sales and highest profit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Corporate segment has moderate sales but decent profit.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Home Office lags in both dimensions.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Recommendations: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Corporate segment contributes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30%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but with room for expansion.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Introduce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bulk pricing, subscriptions, and contract-based offers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for Corporate customers.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Assign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account-based marketing strategies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to grow Corporate share.</a:t>
            </a:r>
            <a:endParaRPr lang="en-IN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44BA53-8427-C8ED-EA22-8E6B700D4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" t="1" r="382" b="897"/>
          <a:stretch/>
        </p:blipFill>
        <p:spPr>
          <a:xfrm>
            <a:off x="4957011" y="1023340"/>
            <a:ext cx="6946231" cy="482882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4198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872201-EE4D-C5CD-F926-D84061BB6FC8}"/>
              </a:ext>
            </a:extLst>
          </p:cNvPr>
          <p:cNvSpPr txBox="1"/>
          <p:nvPr/>
        </p:nvSpPr>
        <p:spPr>
          <a:xfrm>
            <a:off x="452387" y="1057289"/>
            <a:ext cx="346509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Late Delivery Risk (Heat Map)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Insights:</a:t>
            </a:r>
          </a:p>
          <a:p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Delivery risks are concentrated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North America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Europe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Recommendations: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Optimize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warehouse placement and logistics partners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in high-risk regions.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Implement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delivery SLA monitoring dashboards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Proactively communicate delays to customers to reduce churn.</a:t>
            </a:r>
            <a:endParaRPr lang="en-IN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84C5DA-3E85-149F-D365-D2ED8EBD1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257" y="1057289"/>
            <a:ext cx="7113069" cy="491639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11477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BC85D-A5B8-C3A5-DAD7-3CC7194E4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44" y="250256"/>
            <a:ext cx="4176720" cy="680987"/>
          </a:xfrm>
        </p:spPr>
        <p:txBody>
          <a:bodyPr>
            <a:no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Digital </a:t>
            </a:r>
            <a:r>
              <a:rPr lang="en-IN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Behavior</a:t>
            </a:r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 Analysis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714CA7D-1739-8DB1-4556-B7518B7771D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" r="97"/>
          <a:stretch/>
        </p:blipFill>
        <p:spPr>
          <a:xfrm>
            <a:off x="4281744" y="1308016"/>
            <a:ext cx="7565116" cy="424196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16C8F-7936-6284-5631-0459DA8BB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5140" y="2327854"/>
            <a:ext cx="3851475" cy="2202290"/>
          </a:xfrm>
        </p:spPr>
        <p:txBody>
          <a:bodyPr/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Overall Performance</a:t>
            </a:r>
          </a:p>
          <a:p>
            <a:endParaRPr lang="en-US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Total Page Views: 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470K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Unique Visitors: 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3340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Active Products Viewed: 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76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Active Categories Viewed: </a:t>
            </a:r>
            <a:r>
              <a:rPr lang="en-IN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6103465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C9A948-CD86-27FF-C983-55F6D456ECFA}"/>
              </a:ext>
            </a:extLst>
          </p:cNvPr>
          <p:cNvSpPr txBox="1"/>
          <p:nvPr/>
        </p:nvSpPr>
        <p:spPr>
          <a:xfrm>
            <a:off x="375386" y="951397"/>
            <a:ext cx="447574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Traffic Trend (Monthly)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Sharp decline after September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: Traffic drops significantly from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~135K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in September to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~80K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by November.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This suggests: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Seasonality impact (post-peak demand drop), or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Reduced marketing activity / campaign dependency.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Recommendations: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Introduce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personalized product recommendations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“Recently Viewed” sections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to convert browsing behavior into purchases.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Implement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exit-intent offers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to capture undecided users.</a:t>
            </a:r>
            <a:endParaRPr lang="en-IN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49D8E-B1F3-75A5-AD70-366DA0658B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" t="821" r="1769" b="1098"/>
          <a:stretch/>
        </p:blipFill>
        <p:spPr>
          <a:xfrm>
            <a:off x="5194433" y="873492"/>
            <a:ext cx="6708808" cy="51110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72402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4D436B-E5BA-6589-1EED-09308665298B}"/>
              </a:ext>
            </a:extLst>
          </p:cNvPr>
          <p:cNvSpPr txBox="1"/>
          <p:nvPr/>
        </p:nvSpPr>
        <p:spPr>
          <a:xfrm>
            <a:off x="423511" y="1318323"/>
            <a:ext cx="4273617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Traffic by Hour of Day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Insights: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Peak activity occurs between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6 PM – 10 PM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, with the highest around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8–9 PM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Early morning traffic (0–5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hrs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) is minimal.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Recommendations: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Schedule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email campaigns, push notifications, and flash sales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during peak evening hours.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Optimize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ad bidding and website performance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for these time windows to maximize conversion.</a:t>
            </a:r>
            <a:endParaRPr lang="en-IN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D6E4BE-D4D3-0407-0E54-C646D6253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039" r="1271" b="1141"/>
          <a:stretch/>
        </p:blipFill>
        <p:spPr>
          <a:xfrm>
            <a:off x="4822257" y="1057877"/>
            <a:ext cx="7103445" cy="474224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812730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AC3CA7-42ED-C55E-CCDC-AF9677DD7A6C}"/>
              </a:ext>
            </a:extLst>
          </p:cNvPr>
          <p:cNvSpPr txBox="1"/>
          <p:nvPr/>
        </p:nvSpPr>
        <p:spPr>
          <a:xfrm>
            <a:off x="125131" y="335845"/>
            <a:ext cx="485113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Product &amp; Category Performance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Insights: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Top products are dominated by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fitness equipment and sports footwear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Highest viewed product: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Perfect Fitness Perfect Rip Deck (27.8K views).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Cleats, Shop by Sport, Apparel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categories consistently rank highest in views.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Recommendations: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Prioritize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inventory availability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ad spend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for top-viewed products.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Create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product bundles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combining high-view and low-view products to increase basket size.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Highlight best-viewed products on homepage and category landing pages.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Optimize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category landing pages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with filters, comparisons, and featured collections.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Use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category-level promotions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instead of only product-level discounts.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Expand assortment within high-interest categories to capture unmet demand.</a:t>
            </a:r>
            <a:endParaRPr lang="en-IN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3B4E26-31F9-66AA-03AD-12EA4C9B0B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397" y="67377"/>
            <a:ext cx="6486978" cy="336162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A4405B-2331-4506-3543-04B5B3870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397" y="3549317"/>
            <a:ext cx="6486978" cy="32413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5790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349DF7-5DEF-9064-BBFF-E72B192CD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244967"/>
              </p:ext>
            </p:extLst>
          </p:nvPr>
        </p:nvGraphicFramePr>
        <p:xfrm>
          <a:off x="2109002" y="1329578"/>
          <a:ext cx="8180404" cy="4198844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090202">
                  <a:extLst>
                    <a:ext uri="{9D8B030D-6E8A-4147-A177-3AD203B41FA5}">
                      <a16:colId xmlns:a16="http://schemas.microsoft.com/office/drawing/2014/main" val="3942786506"/>
                    </a:ext>
                  </a:extLst>
                </a:gridCol>
                <a:gridCol w="4090202">
                  <a:extLst>
                    <a:ext uri="{9D8B030D-6E8A-4147-A177-3AD203B41FA5}">
                      <a16:colId xmlns:a16="http://schemas.microsoft.com/office/drawing/2014/main" val="809583954"/>
                    </a:ext>
                  </a:extLst>
                </a:gridCol>
              </a:tblGrid>
              <a:tr h="563448">
                <a:tc>
                  <a:txBody>
                    <a:bodyPr/>
                    <a:lstStyle/>
                    <a:p>
                      <a:r>
                        <a:rPr lang="en-IN" dirty="0"/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1315823"/>
                  </a:ext>
                </a:extLst>
              </a:tr>
              <a:tr h="972526">
                <a:tc>
                  <a:txBody>
                    <a:bodyPr/>
                    <a:lstStyle/>
                    <a:p>
                      <a:r>
                        <a:rPr lang="en-IN" dirty="0"/>
                        <a:t>Traffic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Replicate seasonal success &amp; push evening campaigns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9551607"/>
                  </a:ext>
                </a:extLst>
              </a:tr>
              <a:tr h="563448">
                <a:tc>
                  <a:txBody>
                    <a:bodyPr/>
                    <a:lstStyle/>
                    <a:p>
                      <a:r>
                        <a:rPr lang="en-IN"/>
                        <a:t>Products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Focus on Fitness, Footwear, Cleats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1614542"/>
                  </a:ext>
                </a:extLst>
              </a:tr>
              <a:tr h="972526">
                <a:tc>
                  <a:txBody>
                    <a:bodyPr/>
                    <a:lstStyle/>
                    <a:p>
                      <a:r>
                        <a:rPr lang="en-IN"/>
                        <a:t>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Protect Fan Shop, optimize low-margin categories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8595933"/>
                  </a:ext>
                </a:extLst>
              </a:tr>
              <a:tr h="563448">
                <a:tc>
                  <a:txBody>
                    <a:bodyPr/>
                    <a:lstStyle/>
                    <a:p>
                      <a:r>
                        <a:rPr lang="en-IN"/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Retain Consumers, expand Corporate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3915905"/>
                  </a:ext>
                </a:extLst>
              </a:tr>
              <a:tr h="563448">
                <a:tc>
                  <a:txBody>
                    <a:bodyPr/>
                    <a:lstStyle/>
                    <a:p>
                      <a:r>
                        <a:rPr lang="en-IN"/>
                        <a:t>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Reduce delivery risk in key regions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660747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7D6CC80-9535-4B90-5282-7006FA3F27F6}"/>
              </a:ext>
            </a:extLst>
          </p:cNvPr>
          <p:cNvSpPr txBox="1"/>
          <p:nvPr/>
        </p:nvSpPr>
        <p:spPr>
          <a:xfrm>
            <a:off x="539015" y="618738"/>
            <a:ext cx="32148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Strategic Summary</a:t>
            </a:r>
          </a:p>
        </p:txBody>
      </p:sp>
    </p:spTree>
    <p:extLst>
      <p:ext uri="{BB962C8B-B14F-4D97-AF65-F5344CB8AC3E}">
        <p14:creationId xmlns:p14="http://schemas.microsoft.com/office/powerpoint/2010/main" val="5251638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rl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215</TotalTime>
  <Words>685</Words>
  <Application>Microsoft Office PowerPoint</Application>
  <PresentationFormat>Widescreen</PresentationFormat>
  <Paragraphs>120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Trebuchet MS</vt:lpstr>
      <vt:lpstr>Office Theme</vt:lpstr>
      <vt:lpstr>Berlin</vt:lpstr>
      <vt:lpstr>Supply Chain &amp; Digital Behavior Analysis</vt:lpstr>
      <vt:lpstr>Supply Chain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Digital Behavior Analysis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Jeet Sarkar</dc:creator>
  <cp:lastModifiedBy>Jeet Sarkar</cp:lastModifiedBy>
  <cp:revision>1</cp:revision>
  <dcterms:created xsi:type="dcterms:W3CDTF">2025-12-14T14:58:32Z</dcterms:created>
  <dcterms:modified xsi:type="dcterms:W3CDTF">2025-12-14T18:34:21Z</dcterms:modified>
</cp:coreProperties>
</file>